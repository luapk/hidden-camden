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45300"/>
            <a:ext cx="12188952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3200400"/>
            <a:ext cx="11823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800"/>
                </a:solidFill>
                <a:latin typeface="Space Grotesk"/>
              </a:rPr>
              <a:t>[ IMAGE · CAMDEN HIGH STREET AT NIGHT · NEON · CROWD 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GEOFENCED AUDIO TOURS · CAMDEN TOWN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8016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0" i="0">
                <a:solidFill>
                  <a:srgbClr val="F5F5F7"/>
                </a:solidFill>
                <a:latin typeface="Anton"/>
              </a:rPr>
              <a:t>CAMDEN
CRAWL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F5F7"/>
                </a:solidFill>
                <a:latin typeface="Jost"/>
              </a:rPr>
              <a:t>The streets tell the stories. The bars pour the drinks.
A walking tour that turns Camden's footfall into verified visits
for the brands that built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A5F"/>
                </a:solidFill>
                <a:latin typeface="Space Grotesk"/>
              </a:rPr>
              <a:t>CAMDEN CRAWL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735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5A5F"/>
                </a:solidFill>
                <a:latin typeface="Space Grotesk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5F5F7"/>
                </a:solidFill>
                <a:latin typeface="Anton"/>
              </a:rPr>
              <a:t>CAMDEN IS ONE OF THE MOST WALKED CORNERS OF LONDON.
ALMOST NONE OF IT IS MEASURABLE.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8989D"/>
                </a:solidFill>
                <a:latin typeface="Jost"/>
              </a:rPr>
              <a:t>Millions move through these streets every year. Brands pay for windows, billboards and pop-ups, then guess at the return. We make the walk itself the medium, and the redemption the receipt.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794760"/>
            <a:ext cx="10607040" cy="1905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CCFF00"/>
                </a:solidFill>
                <a:latin typeface="Anton"/>
              </a:rPr>
              <a:t>28M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Space Grotesk"/>
              </a:rPr>
              <a:t>visitors to Camden Market
every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023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CCFF00"/>
                </a:solidFill>
                <a:latin typeface="Anton"/>
              </a:rPr>
              <a:t>250K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Space Grotesk"/>
              </a:rPr>
              <a:t>people through Camden Town
every week, skewed under-35s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40233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CCFF00"/>
                </a:solidFill>
                <a:latin typeface="Anton"/>
              </a:rPr>
              <a:t>91%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937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Space Grotesk"/>
              </a:rPr>
              <a:t>of consumers feel more positive
about a brand after a live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A5F"/>
                </a:solidFill>
                <a:latin typeface="Space Grotesk"/>
              </a:rPr>
              <a:t>CAMDEN CRAWL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1735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5A5F"/>
                </a:solidFill>
                <a:latin typeface="Space Grotesk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0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45300"/>
            <a:ext cx="5029200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3200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800"/>
                </a:solidFill>
                <a:latin typeface="Space Grotesk"/>
              </a:rPr>
              <a:t>[ IMAGE · HEADPHONES · PHONE · CAMDEN MURAL ]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WHY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1887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5F5F7"/>
                </a:solidFill>
                <a:latin typeface="Anton"/>
              </a:rPr>
              <a:t>THE WORLD PUT
ITS HEADPHONES 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291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FF00"/>
                </a:solidFill>
                <a:latin typeface="Jost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9184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7"/>
                </a:solidFill>
                <a:latin typeface="Jost"/>
              </a:rPr>
              <a:t>Location audio is intimate, hands-free and unskippable in a way a poster never 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95020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FF00"/>
                </a:solidFill>
                <a:latin typeface="Jost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950208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7"/>
                </a:solidFill>
                <a:latin typeface="Jost"/>
              </a:rPr>
              <a:t>A two-minute story earns minutes of attention — not a 1.5-second glance.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60857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FF00"/>
                </a:solidFill>
                <a:latin typeface="Jos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608576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F5F7"/>
                </a:solidFill>
                <a:latin typeface="Jost"/>
              </a:rPr>
              <a:t>Every stop ends with an action, not an impression.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A5F"/>
                </a:solidFill>
                <a:latin typeface="Space Grotesk"/>
              </a:rPr>
              <a:t>CAMDEN CRAWL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1735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5A5F"/>
                </a:solidFill>
                <a:latin typeface="Space Grotesk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THE CUSTOMER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5F5F7"/>
                </a:solidFill>
                <a:latin typeface="Anton"/>
              </a:rPr>
              <a:t>WALK. UNLOCK. LISTEN. BANK. REDEEM.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8989D"/>
                </a:solidFill>
                <a:latin typeface="Jost"/>
              </a:rPr>
              <a:t>One route from Camden Town tube. Each venue unlocks only when you physically arrive.
No tickets to print. No hardware in the bar. No app store.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2231136" cy="297180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" y="3429000"/>
            <a:ext cx="548640" cy="5486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00000"/>
                </a:solidFill>
                <a:latin typeface="Anto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4114800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F5F7"/>
                </a:solidFill>
                <a:latin typeface="Anton"/>
              </a:rPr>
              <a:t>ARRIVE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461772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Jost"/>
              </a:rPr>
              <a:t>You reach a venue on the route.
The stop wakes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4" y="34290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FF00"/>
                </a:solidFill>
                <a:latin typeface="Jos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3246120"/>
            <a:ext cx="2231136" cy="297180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63824" y="3429000"/>
            <a:ext cx="548640" cy="5486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00000"/>
                </a:solidFill>
                <a:latin typeface="Anto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4114800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F5F7"/>
                </a:solidFill>
                <a:latin typeface="Anton"/>
              </a:rPr>
              <a:t>UNLOCK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461772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Jost"/>
              </a:rPr>
              <a:t>A two-minute story about
that spot plays in your ears.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34290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FF00"/>
                </a:solidFill>
                <a:latin typeface="Jost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3246120"/>
            <a:ext cx="2231136" cy="297180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24144" y="3429000"/>
            <a:ext cx="548640" cy="5486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00000"/>
                </a:solidFill>
                <a:latin typeface="Anton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44" y="4114800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F5F7"/>
                </a:solidFill>
                <a:latin typeface="Anton"/>
              </a:rPr>
              <a:t>BANK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461772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Jost"/>
              </a:rPr>
              <a:t>A sponsored drink lands in
your wallet for 7 days.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34290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FF00"/>
                </a:solidFill>
                <a:latin typeface="Jost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246120"/>
            <a:ext cx="2231136" cy="297180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4464" y="3429000"/>
            <a:ext cx="548640" cy="5486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00000"/>
                </a:solidFill>
                <a:latin typeface="Anto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114800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F5F7"/>
                </a:solidFill>
                <a:latin typeface="Anton"/>
              </a:rPr>
              <a:t>REDEEM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461772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Jost"/>
              </a:rPr>
              <a:t>At the bar a live ticket counts
down. Staff tear it to pour.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87584" y="34290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FF00"/>
                </a:solidFill>
                <a:latin typeface="Jost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98480" y="3246120"/>
            <a:ext cx="2231136" cy="297180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44784" y="3429000"/>
            <a:ext cx="548640" cy="548640"/>
          </a:xfrm>
          <a:prstGeom prst="ellipse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00000"/>
                </a:solidFill>
                <a:latin typeface="Anto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44784" y="4114800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F5F7"/>
                </a:solidFill>
                <a:latin typeface="Anton"/>
              </a:rPr>
              <a:t>WALK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44784" y="461772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8989D"/>
                </a:solidFill>
                <a:latin typeface="Jost"/>
              </a:rPr>
              <a:t>The next story plays you
down to the next stop.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A5F"/>
                </a:solidFill>
                <a:latin typeface="Space Grotesk"/>
              </a:rPr>
              <a:t>CAMDEN CRAWL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1735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5A5F"/>
                </a:solidFill>
                <a:latin typeface="Space Grotesk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BRAND TOUCHPOINTS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5F5F7"/>
                </a:solidFill>
                <a:latin typeface="Anton"/>
              </a:rPr>
              <a:t>FOUR PLACES A BRAND SHOWS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8989D"/>
                </a:solidFill>
                <a:latin typeface="Jost"/>
              </a:rPr>
              <a:t>Not a logo in a corner. A presence woven through the walk, the story and the drink in their hand.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46120"/>
            <a:ext cx="2743200" cy="297180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447288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IN THE 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0"/>
            <a:ext cx="2340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F5F7"/>
                </a:solidFill>
                <a:latin typeface="Anton"/>
              </a:rPr>
              <a:t>THE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617720"/>
            <a:ext cx="23408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8989D"/>
                </a:solidFill>
                <a:latin typeface="Jost"/>
              </a:rPr>
              <a:t>Your brand named in the narration of the stop it sponsors. Heritage, not advertising.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8" y="3246120"/>
            <a:ext cx="2743200" cy="297180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3447288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IN THE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3840480"/>
            <a:ext cx="2340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F5F7"/>
                </a:solidFill>
                <a:latin typeface="Anton"/>
              </a:rPr>
              <a:t>THE DRINK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4617720"/>
            <a:ext cx="23408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8989D"/>
                </a:solidFill>
                <a:latin typeface="Jost"/>
              </a:rPr>
              <a:t>A pint, a pour, a product sample. Banked and redeemed in venue. The payoff is yours.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37376" y="3246120"/>
            <a:ext cx="2743200" cy="297180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3447288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ON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3840480"/>
            <a:ext cx="2340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F5F7"/>
                </a:solidFill>
                <a:latin typeface="Anton"/>
              </a:rPr>
              <a:t>THE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4617720"/>
            <a:ext cx="23408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8989D"/>
                </a:solidFill>
                <a:latin typeface="Jost"/>
              </a:rPr>
              <a:t>Co-branded redemption ticket at the moment of highest attention in the whole journey.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27464" y="3246120"/>
            <a:ext cx="2743200" cy="297180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3447288"/>
            <a:ext cx="23408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IN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8632" y="3840480"/>
            <a:ext cx="23408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F5F7"/>
                </a:solidFill>
                <a:latin typeface="Anton"/>
              </a:rPr>
              <a:t>THE STOP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8632" y="4617720"/>
            <a:ext cx="23408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8989D"/>
                </a:solidFill>
                <a:latin typeface="Jost"/>
              </a:rPr>
              <a:t>Your shop becomes a destination on the route. Footfall walked to your door.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A5F"/>
                </a:solidFill>
                <a:latin typeface="Space Grotesk"/>
              </a:rPr>
              <a:t>CAMDEN CRAWL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5A5F"/>
                </a:solidFill>
                <a:latin typeface="Space Grotesk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THE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5F5F7"/>
                </a:solidFill>
                <a:latin typeface="Anton"/>
              </a:rPr>
              <a:t>CAMDEN, NARRATED BY THE PEOPLE WHO MADE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8989D"/>
                </a:solidFill>
                <a:latin typeface="Jost"/>
              </a:rPr>
              <a:t>Signature tours voiced by Camden's own. A name on the route sells the ticket and earns the press.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3694176" cy="3127248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3694176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223508"/>
            <a:ext cx="3694176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43984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800"/>
                </a:solidFill>
                <a:latin typeface="Space Grotesk"/>
              </a:rPr>
              <a:t>[ IMAGE · PORTRAIT · SUGGS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3694176" cy="1207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074920"/>
            <a:ext cx="36941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5F5F7"/>
                </a:solidFill>
                <a:latin typeface="Anton"/>
              </a:rPr>
              <a:t>SUGGS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715000"/>
            <a:ext cx="3694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MADNESS · THE DUBLIN CASTLE YEARS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3108960"/>
            <a:ext cx="3694176" cy="3127248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108960"/>
            <a:ext cx="3694176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6223508"/>
            <a:ext cx="3694176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4443984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800"/>
                </a:solidFill>
                <a:latin typeface="Space Grotesk"/>
              </a:rPr>
              <a:t>[ IMAGE · PORTRAIT · YUNGBLUD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5029200"/>
            <a:ext cx="3694176" cy="1207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9704" y="5074920"/>
            <a:ext cx="36941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5F5F7"/>
                </a:solidFill>
                <a:latin typeface="Anton"/>
              </a:rPr>
              <a:t>YUNGBLUD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5715000"/>
            <a:ext cx="3694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THE NEW CAMDEN, LOUD AND NOW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3108960"/>
            <a:ext cx="3694176" cy="3127248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4" y="3108960"/>
            <a:ext cx="3694176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3024" y="6223508"/>
            <a:ext cx="3694176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75904" y="4443984"/>
            <a:ext cx="33284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800"/>
                </a:solidFill>
                <a:latin typeface="Space Grotesk"/>
              </a:rPr>
              <a:t>[ IMAGE · PORTRAIT · CARL BARÂT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4" y="5029200"/>
            <a:ext cx="3694176" cy="12070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5074920"/>
            <a:ext cx="36941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5F5F7"/>
                </a:solidFill>
                <a:latin typeface="Anton"/>
              </a:rPr>
              <a:t>CARL BARÂT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5715000"/>
            <a:ext cx="3694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THE LIBERTINES · THE ALBION CIRCUIT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A5F"/>
                </a:solidFill>
                <a:latin typeface="Space Grotesk"/>
              </a:rPr>
              <a:t>CAMDEN CRAWL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1735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5A5F"/>
                </a:solidFill>
                <a:latin typeface="Space Grotesk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BUILT FOR PARTNERS LIKE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5F5F7"/>
                </a:solidFill>
                <a:latin typeface="Anton"/>
              </a:rPr>
              <a:t>THREE NAMES THAT
ALREADY ARE CAMDEN.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175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FF00"/>
                </a:solidFill>
                <a:latin typeface="Jost"/>
              </a:rPr>
              <a:t>→ Camden Hells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8989D"/>
                </a:solidFill>
                <a:latin typeface="Jost"/>
              </a:rPr>
              <a:t>The drink in the wallet. Every banked pint is a verified pour, billed only when a real customer redeems in a real 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FF00"/>
                </a:solidFill>
                <a:latin typeface="Jost"/>
              </a:rPr>
              <a:t>→ Dr. Martens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89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8989D"/>
                </a:solidFill>
                <a:latin typeface="Jost"/>
              </a:rPr>
              <a:t>A stop on the route and a reward at the till. Walk the crowd to the store; hand them a reason to cross the threshold.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FF00"/>
                </a:solidFill>
                <a:latin typeface="Jost"/>
              </a:rPr>
              <a:t>→ Universal Music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394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8989D"/>
                </a:solidFill>
                <a:latin typeface="Jost"/>
              </a:rPr>
              <a:t>The new market store as a flagship stop. The tour scores the visit, the shop closes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005840"/>
            <a:ext cx="5212080" cy="544068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A5A5F"/>
                </a:solidFill>
                <a:latin typeface="Space Grotesk"/>
              </a:rPr>
              <a:t>THE SHAPE OF A PARTNERSHIP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5160" y="1783080"/>
            <a:ext cx="4663440" cy="105156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91109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2402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7"/>
                </a:solidFill>
                <a:latin typeface="Jost"/>
              </a:rPr>
              <a:t>Every walker on the route, every day it runs.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2971800"/>
            <a:ext cx="4663440" cy="105156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0998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4290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7"/>
                </a:solidFill>
                <a:latin typeface="Jost"/>
              </a:rPr>
              <a:t>A dashboard of verified redemptions, not estimated impressions.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4160520"/>
            <a:ext cx="4663440" cy="105156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42885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6177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7"/>
                </a:solidFill>
                <a:latin typeface="Jost"/>
              </a:rPr>
              <a:t>Pay on result. No stock held, no wastage, no guesswork.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A5F"/>
                </a:solidFill>
                <a:latin typeface="Space Grotesk"/>
              </a:rPr>
              <a:t>CAMDEN CRAWL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1735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5A5F"/>
                </a:solidFill>
                <a:latin typeface="Space Grotesk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0" y="0"/>
            <a:ext cx="6519672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0" y="0"/>
            <a:ext cx="6519672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0" y="6845300"/>
            <a:ext cx="6519672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3200400"/>
            <a:ext cx="6153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800"/>
                </a:solidFill>
                <a:latin typeface="Space Grotesk"/>
              </a:rPr>
              <a:t>[ IMAGE · PINT POURED · NEON · PAPER TICKET ON BAR 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THE CASE FOR BRANDS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1887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0" i="0">
                <a:solidFill>
                  <a:srgbClr val="F5F5F7"/>
                </a:solidFill>
                <a:latin typeface="Anton"/>
              </a:rPr>
              <a:t>YOU ONLY PAY
WHEN IT 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98989D"/>
                </a:solidFill>
                <a:latin typeface="Jost"/>
              </a:rPr>
              <a:t>Traditional outdoor spend buys a guess. We bill against a redemption that happened, in a venue, by a real person who walked there. Every pour is a data point: who, where, when, how often.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80560"/>
            <a:ext cx="5120640" cy="1905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CCFF00"/>
                </a:solidFill>
                <a:latin typeface="Anton"/>
              </a:rPr>
              <a:t>1:1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77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Space Grotesk"/>
              </a:rPr>
              <a:t>spend tied directly to
a verified redemption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663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CCFF00"/>
                </a:solidFill>
                <a:latin typeface="Anton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577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Space Grotesk"/>
              </a:rPr>
              <a:t>activations location
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663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CCFF00"/>
                </a:solidFill>
                <a:latin typeface="Anton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5778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8989D"/>
                </a:solidFill>
                <a:latin typeface="Space Grotesk"/>
              </a:rPr>
              <a:t>hardware or wastage
for any 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A5F"/>
                </a:solidFill>
                <a:latin typeface="Space Grotesk"/>
              </a:rPr>
              <a:t>CAMDEN CRAWL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735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5A5F"/>
                </a:solidFill>
                <a:latin typeface="Space Grotesk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THREE WAYS TO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5F5F7"/>
                </a:solidFill>
                <a:latin typeface="Anton"/>
              </a:rPr>
              <a:t>PICK THE MODEL THAT FITS THE GOAL.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423160"/>
            <a:ext cx="3694176" cy="402336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606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MODEL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535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F5F7"/>
                </a:solidFill>
                <a:latin typeface="Anton"/>
              </a:rPr>
              <a:t>PAY PER POUR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CFF00"/>
                </a:solidFill>
                <a:latin typeface="Anton"/>
              </a:rPr>
              <a:t>£ / unit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Space Grotesk"/>
              </a:rPr>
              <a:t>per verified redemption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5720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7"/>
                </a:solidFill>
                <a:latin typeface="Jost"/>
              </a:rPr>
              <a:t>+ Pure performance — pay only when a drink or reward is claimed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08406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7"/>
                </a:solidFill>
                <a:latin typeface="Jost"/>
              </a:rPr>
              <a:t>+ Lowest commitment, fastest to launch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59612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7"/>
                </a:solidFill>
                <a:latin typeface="Jost"/>
              </a:rPr>
              <a:t>+ Best for testing Camden before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1264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F"/>
                </a:solidFill>
                <a:latin typeface="Space Grotesk"/>
              </a:rPr>
              <a:t>Ideal: Camden Hells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8264" y="2423160"/>
            <a:ext cx="3694176" cy="402336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9432" y="2606040"/>
            <a:ext cx="1645920" cy="292608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0000"/>
                </a:solidFill>
                <a:latin typeface="Space Grotesk"/>
              </a:rPr>
              <a:t>MOST POPULAR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99008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MODEL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3375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F5F7"/>
                </a:solidFill>
                <a:latin typeface="Anton"/>
              </a:rPr>
              <a:t>STOP SPONSORSHIP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99592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CFF00"/>
                </a:solidFill>
                <a:latin typeface="Anton"/>
              </a:rPr>
              <a:t>£/month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45445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Space Grotesk"/>
              </a:rPr>
              <a:t>+ per redemption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495604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7"/>
                </a:solidFill>
                <a:latin typeface="Jost"/>
              </a:rPr>
              <a:t>+ Own a stop: story, ticket and reward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546811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7"/>
                </a:solidFill>
                <a:latin typeface="Jost"/>
              </a:rPr>
              <a:t>+ Monthly fee for presence plus a per-pour top-up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598017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7"/>
                </a:solidFill>
                <a:latin typeface="Jost"/>
              </a:rPr>
              <a:t>+ Co-branded ticket and named narration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61264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F"/>
                </a:solidFill>
                <a:latin typeface="Space Grotesk"/>
              </a:rPr>
              <a:t>Ideal: Dr. Martens · Universal Music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39328" y="2423160"/>
            <a:ext cx="3694176" cy="4023360"/>
          </a:xfrm>
          <a:prstGeom prst="rect">
            <a:avLst/>
          </a:prstGeom>
          <a:solidFill>
            <a:srgbClr val="111113"/>
          </a:solidFill>
          <a:ln w="9525">
            <a:solidFill>
              <a:srgbClr val="2828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0496" y="2606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MODEL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295351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5F5F7"/>
                </a:solidFill>
                <a:latin typeface="Anton"/>
              </a:rPr>
              <a:t>HEADLINE ACTIVATION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36118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CCFF00"/>
                </a:solidFill>
                <a:latin typeface="Anton"/>
              </a:rPr>
              <a:t>£ fixed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0496" y="416052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8989D"/>
                </a:solidFill>
                <a:latin typeface="Space Grotesk"/>
              </a:rPr>
              <a:t>campaign / launch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0496" y="45720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7"/>
                </a:solidFill>
                <a:latin typeface="Jost"/>
              </a:rPr>
              <a:t>+ A whole tour or celebrity route, brand-led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6" y="508406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7"/>
                </a:solidFill>
                <a:latin typeface="Jost"/>
              </a:rPr>
              <a:t>+ Launch moment, PR and full data package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559612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7"/>
                </a:solidFill>
                <a:latin typeface="Jost"/>
              </a:rPr>
              <a:t>+ Best for a store opening or product drop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496" y="612648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F"/>
                </a:solidFill>
                <a:latin typeface="Space Grotesk"/>
              </a:rPr>
              <a:t>Ideal: a flagship moment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A5F"/>
                </a:solidFill>
                <a:latin typeface="Space Grotesk"/>
              </a:rPr>
              <a:t>CAMDEN CRAWL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1735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5A5F"/>
                </a:solidFill>
                <a:latin typeface="Space Grotesk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45300"/>
            <a:ext cx="12188952" cy="1270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3200400"/>
            <a:ext cx="11823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800"/>
                </a:solidFill>
                <a:latin typeface="Space Grotesk"/>
              </a:rPr>
              <a:t>[ IMAGE · CAMDEN SKYLINE DUSK · LOCK BRIDGE · ACID LIGHT 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FF00"/>
                </a:solidFill>
                <a:latin typeface="Space Grotesk"/>
              </a:rPr>
              <a:t>LET'S WALK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0" i="0">
                <a:solidFill>
                  <a:srgbClr val="F5F5F7"/>
                </a:solidFill>
                <a:latin typeface="Anton"/>
              </a:rPr>
              <a:t>BE THE REASON
THEY KEEP
WALKING.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7132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0" b="0" i="0">
                <a:solidFill>
                  <a:srgbClr val="CCFF00"/>
                </a:solidFill>
                <a:latin typeface="Anton"/>
              </a:rPr>
              <a:t>WALKING.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394960"/>
            <a:ext cx="5029200" cy="19050"/>
          </a:xfrm>
          <a:prstGeom prst="rect">
            <a:avLst/>
          </a:prstGeom>
          <a:solidFill>
            <a:srgbClr val="28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321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F5F7"/>
                </a:solidFill>
                <a:latin typeface="Jost"/>
              </a:rPr>
              <a:t>A pilot route is live. We can have your brand on it
in weeks, not quarters.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63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FF00"/>
                </a:solidFill>
                <a:latin typeface="Space Grotesk"/>
              </a:rPr>
              <a:t>paulknott@gmail.com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A5A5F"/>
                </a:solidFill>
                <a:latin typeface="Space Grotesk"/>
              </a:rPr>
              <a:t>CAMDEN CRAWL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7352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A5A5F"/>
                </a:solidFill>
                <a:latin typeface="Space Grotesk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